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20-Mar-26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9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9DC3E6"/>
                </a:solidFill>
                <a:latin typeface="Calibri"/>
              </a:rPr>
              <a:t>🏫  </a:t>
            </a:r>
            <a:r>
              <a:rPr sz="1300" b="0" i="0" dirty="0" err="1">
                <a:solidFill>
                  <a:srgbClr val="9DC3E6"/>
                </a:solidFill>
                <a:latin typeface="Calibri"/>
              </a:rPr>
              <a:t>Технически</a:t>
            </a:r>
            <a:r>
              <a:rPr sz="1300" b="0" i="0" dirty="0">
                <a:solidFill>
                  <a:srgbClr val="9DC3E6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9DC3E6"/>
                </a:solidFill>
                <a:latin typeface="Calibri"/>
              </a:rPr>
              <a:t>Университет</a:t>
            </a:r>
            <a:r>
              <a:rPr lang="bg-BG" sz="1300" b="0" i="0" dirty="0">
                <a:solidFill>
                  <a:srgbClr val="9DC3E6"/>
                </a:solidFill>
                <a:latin typeface="Calibri"/>
              </a:rPr>
              <a:t> -</a:t>
            </a:r>
            <a:r>
              <a:rPr lang="en-US" sz="1300" b="0" i="0" dirty="0">
                <a:solidFill>
                  <a:srgbClr val="9DC3E6"/>
                </a:solidFill>
                <a:latin typeface="Calibri"/>
              </a:rPr>
              <a:t> </a:t>
            </a:r>
            <a:r>
              <a:rPr lang="bg-BG" sz="1300" dirty="0">
                <a:solidFill>
                  <a:srgbClr val="9DC3E6"/>
                </a:solidFill>
                <a:latin typeface="Calibri"/>
              </a:rPr>
              <a:t>филиал Пловдив</a:t>
            </a:r>
            <a:endParaRPr sz="1300" b="0" i="0" dirty="0">
              <a:solidFill>
                <a:srgbClr val="9DC3E6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Разпределена Вградена Система за
Термично Управление на Център за Данни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546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DC3E6"/>
                </a:solidFill>
                <a:latin typeface="Calibri"/>
              </a:rPr>
              <a:t>Курсов проект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DC3E6"/>
                </a:solidFill>
                <a:latin typeface="Calibri"/>
              </a:rPr>
              <a:t>Дисциплина:  Разпределени Вградени Системи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4251960"/>
            <a:ext cx="5760720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DC3E6"/>
                </a:solidFill>
                <a:latin typeface="Calibri"/>
              </a:rPr>
              <a:t>Изготвили: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Стефани Узунова  —  ФН: 616551
Владимир Върбанов  —  ФН: 616602
Данаил Атанасов  —  ФН: 616614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DC3E6"/>
                </a:solidFill>
                <a:latin typeface="Calibri"/>
              </a:rPr>
              <a:t>Март  2026 г.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Съдържание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02020"/>
                </a:solidFill>
                <a:latin typeface="Calibri"/>
              </a:rPr>
              <a:t>1.  Описание на задачата</a:t>
            </a:r>
          </a:p>
          <a:p>
            <a:pPr algn="l"/>
            <a:r>
              <a:rPr sz="1800">
                <a:solidFill>
                  <a:srgbClr val="202020"/>
                </a:solidFill>
                <a:latin typeface="Calibri"/>
              </a:rPr>
              <a:t>2.  Системен обзор и хардуерни компоненти</a:t>
            </a:r>
          </a:p>
          <a:p>
            <a:pPr algn="l"/>
            <a:r>
              <a:rPr sz="1800">
                <a:solidFill>
                  <a:srgbClr val="202020"/>
                </a:solidFill>
                <a:latin typeface="Calibri"/>
              </a:rPr>
              <a:t>3.  GPIO разпределение на пиновете</a:t>
            </a:r>
          </a:p>
          <a:p>
            <a:pPr algn="l"/>
            <a:r>
              <a:rPr sz="1800">
                <a:solidFill>
                  <a:srgbClr val="202020"/>
                </a:solidFill>
                <a:latin typeface="Calibri"/>
              </a:rPr>
              <a:t>4.  Модул 1 — Следене на температурата и влажността</a:t>
            </a:r>
          </a:p>
          <a:p>
            <a:pPr algn="l"/>
            <a:r>
              <a:rPr sz="1800">
                <a:solidFill>
                  <a:srgbClr val="202020"/>
                </a:solidFill>
                <a:latin typeface="Calibri"/>
              </a:rPr>
              <a:t>5.  Модул 2 — Управление на вентилацията (вентилатор + клапи)</a:t>
            </a:r>
          </a:p>
          <a:p>
            <a:pPr algn="l"/>
            <a:r>
              <a:rPr sz="1800">
                <a:solidFill>
                  <a:srgbClr val="202020"/>
                </a:solidFill>
                <a:latin typeface="Calibri"/>
              </a:rPr>
              <a:t>6.  Логика на автоматично управление</a:t>
            </a:r>
          </a:p>
          <a:p>
            <a:pPr algn="l"/>
            <a:r>
              <a:rPr sz="1800">
                <a:solidFill>
                  <a:srgbClr val="202020"/>
                </a:solidFill>
                <a:latin typeface="Calibri"/>
              </a:rPr>
              <a:t>7.  Комуникационни протоколи — MQTT и SNMP</a:t>
            </a:r>
          </a:p>
          <a:p>
            <a:pPr algn="l"/>
            <a:r>
              <a:rPr sz="1800">
                <a:solidFill>
                  <a:srgbClr val="202020"/>
                </a:solidFill>
                <a:latin typeface="Calibri"/>
              </a:rPr>
              <a:t>8.  Програмна архитектура (Python / FastAPI / React)</a:t>
            </a:r>
          </a:p>
          <a:p>
            <a:pPr algn="l"/>
            <a:r>
              <a:rPr sz="1800">
                <a:solidFill>
                  <a:srgbClr val="202020"/>
                </a:solidFill>
                <a:latin typeface="Calibri"/>
              </a:rPr>
              <a:t>9.  Уеб интерфейс и симулационен режим</a:t>
            </a:r>
          </a:p>
          <a:p>
            <a:pPr algn="l"/>
            <a:r>
              <a:rPr sz="1800">
                <a:solidFill>
                  <a:srgbClr val="202020"/>
                </a:solidFill>
                <a:latin typeface="Calibri"/>
              </a:rPr>
              <a:t>10. Заключение и резултати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  <a:latin typeface="Calibri"/>
              </a:rPr>
              <a:t>Разпределени Вградени Системи  |  Курсов проект  |  2025/2026  |  2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Описание на задачата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964"/>
                </a:solidFill>
                <a:latin typeface="Calibri"/>
              </a:rPr>
              <a:t>Задание: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202020"/>
                </a:solidFill>
                <a:latin typeface="Calibri"/>
              </a:rPr>
              <a:t>  • Проектиране на разпределена вградена система за термично управление на ЦД</a:t>
            </a:r>
          </a:p>
          <a:p>
            <a:pPr algn="l"/>
            <a:r>
              <a:rPr sz="1600">
                <a:solidFill>
                  <a:srgbClr val="202020"/>
                </a:solidFill>
                <a:latin typeface="Calibri"/>
              </a:rPr>
              <a:t>  • Реализация на Raspberry Pi 5 с Python FastAPI бекенд и React уеб интерфейс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964"/>
                </a:solidFill>
                <a:latin typeface="Calibri"/>
              </a:rPr>
              <a:t>Модул 1 — Следене на температурата: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202020"/>
                </a:solidFill>
                <a:latin typeface="Calibri"/>
              </a:rPr>
              <a:t>  • Отчитане на температура и влажност чрез сензор BME280 (I²C) или DHT22 (GPIO)</a:t>
            </a:r>
          </a:p>
          <a:p>
            <a:pPr algn="l"/>
            <a:r>
              <a:rPr sz="1600">
                <a:solidFill>
                  <a:srgbClr val="202020"/>
                </a:solidFill>
                <a:latin typeface="Calibri"/>
              </a:rPr>
              <a:t>  • Докладване на стойностите по мрежа чрез SNMP v2c протокол</a:t>
            </a:r>
          </a:p>
          <a:p>
            <a:pPr algn="l"/>
            <a:r>
              <a:rPr sz="1600">
                <a:solidFill>
                  <a:srgbClr val="202020"/>
                </a:solidFill>
                <a:latin typeface="Calibri"/>
              </a:rPr>
              <a:t>  • Съхранение на исторически данни в SQLite база данни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964"/>
                </a:solidFill>
                <a:latin typeface="Calibri"/>
              </a:rPr>
              <a:t>Модул 2 — Управление на вентилацията: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202020"/>
                </a:solidFill>
                <a:latin typeface="Calibri"/>
              </a:rPr>
              <a:t>  • Управление на вентилатор с 3 степени (НИСКА / СРЕДНА / ВИСОКА) чрез Modbus RTU</a:t>
            </a:r>
          </a:p>
          <a:p>
            <a:pPr algn="l"/>
            <a:r>
              <a:rPr sz="1600">
                <a:solidFill>
                  <a:srgbClr val="202020"/>
                </a:solidFill>
                <a:latin typeface="Calibri"/>
              </a:rPr>
              <a:t>  • Управление на 2 клапи: Клапа 1 — рециркулация вътре, Клапа 2 — изпускане навън</a:t>
            </a:r>
          </a:p>
          <a:p>
            <a:pPr algn="l"/>
            <a:r>
              <a:rPr sz="1600">
                <a:solidFill>
                  <a:srgbClr val="202020"/>
                </a:solidFill>
                <a:latin typeface="Calibri"/>
              </a:rPr>
              <a:t>  • Детекция на въздушен поток чрез дискретни входове (DI) на Modbus модула</a:t>
            </a:r>
          </a:p>
          <a:p>
            <a:pPr algn="l"/>
            <a:r>
              <a:rPr sz="1600">
                <a:solidFill>
                  <a:srgbClr val="202020"/>
                </a:solidFill>
                <a:latin typeface="Calibri"/>
              </a:rPr>
              <a:t>  • Автоматичен и ръчен режим на управление + MQTT брокер за много Pi устройства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  <a:latin typeface="Calibri"/>
              </a:rPr>
              <a:t>Разпределени Вградени Системи  |  Курсов проект  |  2025/2026  |  3 / 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Хардуерни компоненти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467200"/>
              </p:ext>
            </p:extLst>
          </p:nvPr>
        </p:nvGraphicFramePr>
        <p:xfrm>
          <a:off x="320040" y="1097280"/>
          <a:ext cx="1152144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Компонент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Модел / Спецификация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Интерфейс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Брой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Едноплаткови компютър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202020"/>
                          </a:solidFill>
                          <a:latin typeface="Calibri"/>
                        </a:rPr>
                        <a:t>Raspberry Pi 5  (4</a:t>
                      </a:r>
                      <a:r>
                        <a:rPr lang="en-US" sz="1200" dirty="0">
                          <a:solidFill>
                            <a:srgbClr val="202020"/>
                          </a:solidFill>
                          <a:latin typeface="Calibri"/>
                        </a:rPr>
                        <a:t>/8</a:t>
                      </a:r>
                      <a:r>
                        <a:rPr sz="1200" dirty="0">
                          <a:solidFill>
                            <a:srgbClr val="202020"/>
                          </a:solidFill>
                          <a:latin typeface="Calibri"/>
                        </a:rPr>
                        <a:t> GB RAM)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Сензор температура/влажност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BME280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I²C  0x76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Алт. сензор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DHT22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GPIO 4  (BCM)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RS-485 USB адаптер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CH340 / FT232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USB → /dev/ttyUSB0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Modbus RTU релеен модул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202020"/>
                          </a:solidFill>
                          <a:latin typeface="Calibri"/>
                        </a:rPr>
                        <a:t>8-канален, 5A/230VAC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202020"/>
                          </a:solidFill>
                          <a:latin typeface="Calibri"/>
                        </a:rPr>
                        <a:t>RS-485  Slave ID 1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Вентилатор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202020"/>
                          </a:solidFill>
                          <a:latin typeface="Calibri"/>
                        </a:rPr>
                        <a:t>3-степенен AC/DC</a:t>
                      </a:r>
                      <a:r>
                        <a:rPr lang="en-US" sz="1200" dirty="0">
                          <a:solidFill>
                            <a:srgbClr val="202020"/>
                          </a:solidFill>
                          <a:latin typeface="Calibri"/>
                        </a:rPr>
                        <a:t>, 24V (3.3-5V PWM)</a:t>
                      </a:r>
                      <a:endParaRPr sz="1200" dirty="0">
                        <a:solidFill>
                          <a:srgbClr val="20202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Relay 1–3  (one-hot)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Актуатори за клапи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24 VDC моторизирани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Relay 4–5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Датчици за въздушен поток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NPN/PNP дигитален изход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Modbus DI 0, DI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20202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  <a:latin typeface="Calibri"/>
              </a:rPr>
              <a:t>Разпределени Вградени Системи  |  Курсов проект  |  2025/2026  |  4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GPIO разпределение — Raspberry Pi 5 (BCM номерация)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97280"/>
          <a:ext cx="115214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GPIO (BCM)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Физ. пин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Посока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Функция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GPIO  2 (SDA)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Pin 3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Изход/вход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BME280 — I²C Data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GPIO  3 (SCL)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Pin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Изход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BME280 — I²C Clock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GPIO  4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Pin 7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Вход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DHT22 — данни (алт. сензор)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GPIO 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Pin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Изход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Статус LED (зелен — heartbeat)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GPIO 27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Pin 13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Изход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Алarm LED (червен — критична T°)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GPIO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Pin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Вход (PU)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Бутон — превключване АВТО/РЪЧЕН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GPIO 23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Pin 16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Вход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Тахометър на вентилатора (NPN)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GPIO 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Pin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Вход (PD)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Обратна връзка — Клапа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GPIO 25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Pin 22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Вход (PD)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Обратна връзка — Клапа 2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080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6060"/>
                </a:solidFill>
                <a:latin typeface="Calibri"/>
              </a:rPr>
              <a:t>PU = Pull-Up  |  PD = Pull-Down  |  Modbus DI-0/DI-1 се четат директно от RS-485 модула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  <a:latin typeface="Calibri"/>
              </a:rPr>
              <a:t>Разпределени Вградени Системи  |  Курсов проект  |  2025/2026  |  5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Модул 1 — Следене на температурата и влажността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964"/>
                </a:solidFill>
                <a:latin typeface="Calibri"/>
              </a:rPr>
              <a:t>Сензор BME280 / DHT22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669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02020"/>
                </a:solidFill>
                <a:latin typeface="Calibri"/>
              </a:rPr>
              <a:t>  • BME280 — I²C, адрес 0x76, ±0.5 °C точност</a:t>
            </a:r>
          </a:p>
          <a:p>
            <a:pPr algn="l"/>
            <a:r>
              <a:rPr sz="1500">
                <a:solidFill>
                  <a:srgbClr val="202020"/>
                </a:solidFill>
                <a:latin typeface="Calibri"/>
              </a:rPr>
              <a:t>  • DHT22  — GPIO 4, алтернатива при липса на I²C</a:t>
            </a:r>
          </a:p>
          <a:p>
            <a:pPr algn="l"/>
            <a:r>
              <a:rPr sz="1500">
                <a:solidFill>
                  <a:srgbClr val="202020"/>
                </a:solidFill>
                <a:latin typeface="Calibri"/>
              </a:rPr>
              <a:t>  • Автоматичен fallback към симулация при грешка</a:t>
            </a:r>
          </a:p>
          <a:p>
            <a:pPr algn="l"/>
            <a:r>
              <a:rPr sz="1500">
                <a:solidFill>
                  <a:srgbClr val="202020"/>
                </a:solidFill>
                <a:latin typeface="Calibri"/>
              </a:rPr>
              <a:t>  • Четене на всеки 5 секунди (конфигурируемо)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964"/>
                </a:solidFill>
                <a:latin typeface="Calibri"/>
              </a:rPr>
              <a:t>SNMP v2c докладване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5669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02020"/>
                </a:solidFill>
                <a:latin typeface="Calibri"/>
              </a:rPr>
              <a:t>  • Enterprise OID:  1.3.6.1.4.1.54321</a:t>
            </a:r>
          </a:p>
          <a:p>
            <a:pPr algn="l"/>
            <a:r>
              <a:rPr sz="1500">
                <a:solidFill>
                  <a:srgbClr val="202020"/>
                </a:solidFill>
                <a:latin typeface="Calibri"/>
              </a:rPr>
              <a:t>  • Температура → .1.1.0  (×10, напр. 264 = 26.4 °C)</a:t>
            </a:r>
          </a:p>
          <a:p>
            <a:pPr algn="l"/>
            <a:r>
              <a:rPr sz="1500">
                <a:solidFill>
                  <a:srgbClr val="202020"/>
                </a:solidFill>
                <a:latin typeface="Calibri"/>
              </a:rPr>
              <a:t>  • Влажност    → .1.2.0  (×10)</a:t>
            </a:r>
          </a:p>
          <a:p>
            <a:pPr algn="l"/>
            <a:r>
              <a:rPr sz="1500">
                <a:solidFill>
                  <a:srgbClr val="202020"/>
                </a:solidFill>
                <a:latin typeface="Calibri"/>
              </a:rPr>
              <a:t>  • Автоматични трапове при T ≥ 30 °C (.4.1)</a:t>
            </a:r>
          </a:p>
          <a:p>
            <a:pPr algn="l"/>
            <a:r>
              <a:rPr sz="1500">
                <a:solidFill>
                  <a:srgbClr val="202020"/>
                </a:solidFill>
                <a:latin typeface="Calibri"/>
              </a:rPr>
              <a:t>  • Автоматични трапове при RH ≥ 70 % (.4.2)</a:t>
            </a:r>
          </a:p>
          <a:p>
            <a:pPr algn="l"/>
            <a:r>
              <a:rPr sz="1500">
                <a:solidFill>
                  <a:srgbClr val="202020"/>
                </a:solidFill>
                <a:latin typeface="Calibri"/>
              </a:rPr>
              <a:t>  • Community: public  |  UDP порт 161/162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964"/>
                </a:solidFill>
                <a:latin typeface="Calibri"/>
              </a:rPr>
              <a:t>SQLite база данни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02020"/>
                </a:solidFill>
                <a:latin typeface="Calibri"/>
              </a:rPr>
              <a:t>  • Таблица readings — запис на 60 секунди</a:t>
            </a:r>
          </a:p>
          <a:p>
            <a:pPr algn="l"/>
            <a:r>
              <a:rPr sz="1500">
                <a:solidFill>
                  <a:srgbClr val="202020"/>
                </a:solidFill>
                <a:latin typeface="Calibri"/>
              </a:rPr>
              <a:t>  • Таблица events   — системни събития</a:t>
            </a:r>
          </a:p>
          <a:p>
            <a:pPr algn="l"/>
            <a:r>
              <a:rPr sz="1500">
                <a:solidFill>
                  <a:srgbClr val="202020"/>
                </a:solidFill>
                <a:latin typeface="Calibri"/>
              </a:rPr>
              <a:t>  • API: GET /api/history?hours=24</a:t>
            </a:r>
          </a:p>
          <a:p>
            <a:pPr algn="l"/>
            <a:r>
              <a:rPr sz="1500">
                <a:solidFill>
                  <a:srgbClr val="202020"/>
                </a:solidFill>
                <a:latin typeface="Calibri"/>
              </a:rPr>
              <a:t>  • API: GET /api/statistics  (min/max/avg)</a:t>
            </a:r>
          </a:p>
          <a:p>
            <a:pPr algn="l"/>
            <a:r>
              <a:rPr sz="1500">
                <a:solidFill>
                  <a:srgbClr val="202020"/>
                </a:solidFill>
                <a:latin typeface="Calibri"/>
              </a:rPr>
              <a:t>  • aiosqlite — асинхронен достъп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  <a:latin typeface="Calibri"/>
              </a:rPr>
              <a:t>Разпределени Вградени Системи  |  Курсов проект  |  2025/2026  |  6 / 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Модул 2 — Управление на вентилацията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964"/>
                </a:solidFill>
                <a:latin typeface="Calibri"/>
              </a:rPr>
              <a:t>Modbus RTU — релейни изходи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54864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Relay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Coil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Функция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Relay 1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Coil 0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Вентилатор НИСКА (~33 %)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Relay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Coil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Вентилатор СРЕДНА (~66 %)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Relay 3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Coil 2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Вентилатор ВИСОКА (100 %)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Relay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Coil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Клапа 1 — Рециркулация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Relay 5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Coil 4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Клапа 2 — Изпускане навън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964"/>
                </a:solidFill>
                <a:latin typeface="Calibri"/>
              </a:rPr>
              <a:t>Клапи — режими на работа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02020"/>
                </a:solidFill>
                <a:latin typeface="Calibri"/>
              </a:rPr>
              <a:t>♻  Рециркулация (T &lt; 25 °C):</a:t>
            </a:r>
          </a:p>
          <a:p>
            <a:pPr algn="l"/>
            <a:r>
              <a:rPr sz="1400">
                <a:solidFill>
                  <a:srgbClr val="202020"/>
                </a:solidFill>
                <a:latin typeface="Calibri"/>
              </a:rPr>
              <a:t>     Клапа 1 ОТВОРЕНА + Клапа 2 ЗАТВОРЕНА</a:t>
            </a:r>
          </a:p>
          <a:p>
            <a:pPr algn="l"/>
            <a:r>
              <a:rPr sz="1400">
                <a:solidFill>
                  <a:srgbClr val="202020"/>
                </a:solidFill>
                <a:latin typeface="Calibri"/>
              </a:rPr>
              <a:t>     → въздухът се върти вътре в стаята</a:t>
            </a:r>
          </a:p>
          <a:p>
            <a:pPr algn="l"/>
            <a:endParaRPr sz="1400">
              <a:solidFill>
                <a:srgbClr val="202020"/>
              </a:solidFill>
              <a:latin typeface="Calibri"/>
            </a:endParaRPr>
          </a:p>
          <a:p>
            <a:pPr algn="l"/>
            <a:r>
              <a:rPr sz="1400">
                <a:solidFill>
                  <a:srgbClr val="202020"/>
                </a:solidFill>
                <a:latin typeface="Calibri"/>
              </a:rPr>
              <a:t>🌬  Изпускане (T ≥ 25 °C):</a:t>
            </a:r>
          </a:p>
          <a:p>
            <a:pPr algn="l"/>
            <a:r>
              <a:rPr sz="1400">
                <a:solidFill>
                  <a:srgbClr val="202020"/>
                </a:solidFill>
                <a:latin typeface="Calibri"/>
              </a:rPr>
              <a:t>     Клапа 1 ЗАТВОРЕНА + Клапа 2 ОТВОРЕНА</a:t>
            </a:r>
          </a:p>
          <a:p>
            <a:pPr algn="l"/>
            <a:r>
              <a:rPr sz="1400">
                <a:solidFill>
                  <a:srgbClr val="202020"/>
                </a:solidFill>
                <a:latin typeface="Calibri"/>
              </a:rPr>
              <a:t>     → горещ въздух се изкарва навън</a:t>
            </a:r>
          </a:p>
          <a:p>
            <a:pPr algn="l"/>
            <a:endParaRPr sz="1400">
              <a:solidFill>
                <a:srgbClr val="202020"/>
              </a:solidFill>
              <a:latin typeface="Calibri"/>
            </a:endParaRPr>
          </a:p>
          <a:p>
            <a:pPr algn="l"/>
            <a:r>
              <a:rPr sz="1400">
                <a:solidFill>
                  <a:srgbClr val="202020"/>
                </a:solidFill>
                <a:latin typeface="Calibri"/>
              </a:rPr>
              <a:t>⚠  Fault override: ако DI-1 (изходящ поток)</a:t>
            </a:r>
          </a:p>
          <a:p>
            <a:pPr algn="l"/>
            <a:r>
              <a:rPr sz="1400">
                <a:solidFill>
                  <a:srgbClr val="202020"/>
                </a:solidFill>
                <a:latin typeface="Calibri"/>
              </a:rPr>
              <a:t>     не е засечен → автоматично рециркулация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  <a:latin typeface="Calibri"/>
              </a:rPr>
              <a:t>Разпределени Вградени Системи  |  Курсов проект  |  2025/2026  |  7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Логика на автоматично управление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Температура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Скорост вентилатор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Клапа 1 (Рецирк.)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Клапа 2 (Изпуск.)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T &lt; 20 °C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⭕  ИЗКЛЮЧЕН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✅  ОТВОРЕНА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❌  ЗАТВОРЕНА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20 ≤ T &lt; 25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🟢  НИСКА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✅  ОТВОРЕНА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❌  ЗАТВОРЕНА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25 ≤ T &lt; 30 °C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🟡  СРЕДНА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❌  ЗАТВОРЕНА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✅  ОТВОРЕНА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T ≥ 30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🔴  ВИСОКА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❌  ЗАТВОРЕНА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✅  ОТВОРЕНА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3964"/>
                </a:solidFill>
                <a:latin typeface="Calibri"/>
              </a:rPr>
              <a:t>Режими на управление: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202020"/>
                </a:solidFill>
                <a:latin typeface="Calibri"/>
              </a:rPr>
              <a:t>  • АВТО — системата автоматично избира вентилатор и клапи по температура</a:t>
            </a:r>
          </a:p>
          <a:p>
            <a:pPr algn="l"/>
            <a:r>
              <a:rPr sz="1600">
                <a:solidFill>
                  <a:srgbClr val="202020"/>
                </a:solidFill>
                <a:latin typeface="Calibri"/>
              </a:rPr>
              <a:t>  • РЪЧЕН — операторът задава вентилатор (0–3) и всяка клапа независимо</a:t>
            </a:r>
          </a:p>
          <a:p>
            <a:pPr algn="l"/>
            <a:r>
              <a:rPr sz="1600">
                <a:solidFill>
                  <a:srgbClr val="202020"/>
                </a:solidFill>
                <a:latin typeface="Calibri"/>
              </a:rPr>
              <a:t>  • Превключване: бутон GPIO 22  или  REST API  POST /api/mode  или  MQTT команда</a:t>
            </a:r>
          </a:p>
          <a:p>
            <a:pPr algn="l"/>
            <a:r>
              <a:rPr sz="1600">
                <a:solidFill>
                  <a:srgbClr val="202020"/>
                </a:solidFill>
                <a:latin typeface="Calibri"/>
              </a:rPr>
              <a:t>  • Прагове конфигурируемо чрез API:  POST /api/thresholds  {"off": 20, "low": 25, "medium": 30}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  <a:latin typeface="Calibri"/>
              </a:rPr>
              <a:t>Разпределени Вградени Системи  |  Курсов проект  |  2025/2026  |  8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Комуникационни протоколи — MQTT и SNMP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964"/>
                </a:solidFill>
                <a:latin typeface="Calibri"/>
              </a:rPr>
              <a:t>MQTT (paho-mqtt) — Mosquitto брокер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56692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02020"/>
                </a:solidFill>
                <a:latin typeface="Calibri"/>
              </a:rPr>
              <a:t>  • Broker: TCP :1883  |  TLS :8883 (опция)</a:t>
            </a:r>
          </a:p>
          <a:p>
            <a:pPr algn="l"/>
            <a:r>
              <a:rPr sz="1400">
                <a:solidFill>
                  <a:srgbClr val="202020"/>
                </a:solidFill>
                <a:latin typeface="Calibri"/>
              </a:rPr>
              <a:t>  • NODE_ID: datacenter_node_01  (уникален за Pi)</a:t>
            </a:r>
          </a:p>
          <a:p>
            <a:pPr algn="l"/>
            <a:r>
              <a:rPr sz="1400">
                <a:solidFill>
                  <a:srgbClr val="202020"/>
                </a:solidFill>
                <a:latin typeface="Calibri"/>
              </a:rPr>
              <a:t>  • Публикуване: datacenter/{node}/status (retained JSON)</a:t>
            </a:r>
          </a:p>
          <a:p>
            <a:pPr algn="l"/>
            <a:r>
              <a:rPr sz="1400">
                <a:solidFill>
                  <a:srgbClr val="202020"/>
                </a:solidFill>
                <a:latin typeface="Calibri"/>
              </a:rPr>
              <a:t>  • Индивидуални топики: sensors/temperature, actuators/fan_speed...</a:t>
            </a:r>
          </a:p>
          <a:p>
            <a:pPr algn="l"/>
            <a:r>
              <a:rPr sz="1400">
                <a:solidFill>
                  <a:srgbClr val="202020"/>
                </a:solidFill>
                <a:latin typeface="Calibri"/>
              </a:rPr>
              <a:t>  • Команди (subscribe): cmd/fan_speed, cmd/valve, cmd/mode</a:t>
            </a:r>
          </a:p>
          <a:p>
            <a:pPr algn="l"/>
            <a:r>
              <a:rPr sz="1400">
                <a:solidFill>
                  <a:srgbClr val="202020"/>
                </a:solidFill>
                <a:latin typeface="Calibri"/>
              </a:rPr>
              <a:t>  • Fallback: при &gt; 10 неуспешни опита → SNMP режим</a:t>
            </a:r>
          </a:p>
          <a:p>
            <a:pPr algn="l"/>
            <a:r>
              <a:rPr sz="1400">
                <a:solidFill>
                  <a:srgbClr val="202020"/>
                </a:solidFill>
                <a:latin typeface="Calibri"/>
              </a:rPr>
              <a:t>  • LWT (Last Will): status = offline при изключване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964"/>
                </a:solidFill>
                <a:latin typeface="Calibri"/>
              </a:rPr>
              <a:t>SNMP v2c — резервен протокол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1508760"/>
          <a:ext cx="55778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OID суфикс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Описание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.1.1.0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Температура (×10 °C)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.1.2.0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Влажност (×10 %)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.2.1.0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Скорост вентилатор (0–3)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.2.2.0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Клапа 1 (0/1)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.2.3.0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Клапа 2 (0/1)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.3.1.0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Въздух вход (0/1)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.3.2.0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Въздух изход (0/1)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  <a:latin typeface="Calibri"/>
              </a:rPr>
              <a:t>Разпределени Вградени Системи  |  Курсов проект  |  2025/2026  |  9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Програмна 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964"/>
                </a:solidFill>
                <a:latin typeface="Calibri"/>
              </a:rPr>
              <a:t>Бекенд (Python 3.11):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508760"/>
          <a:ext cx="6858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Файл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Описание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main.py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FastAPI сървър — REST API, WebSocket, статични файлове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config.py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Всички константи — GPIO, Modbus, MQTT, SNMP, прагове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sensor_reader.py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BME280/DHT22 + симулационен override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control_logic.py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Автоматична логика АВТО/РЪЧЕН режим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IOControl/modbus_control.py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Modbus RTU — вентилатор + клапи + DI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IOControl/gpio_handler.py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GPIO — LED, бутон, тахометър, feedback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Networking/mqtt_client.py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MQTT pub/sub + fallback логика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Networking/snmp_agent.py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SNMP v2c агент + traps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Storage/data_logger.py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SQLite асинхронен логер (aiosqlite)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98079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964"/>
                </a:solidFill>
                <a:latin typeface="Calibri"/>
              </a:rPr>
              <a:t>Фронтенд (React 18 + Vite):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50876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02020"/>
                </a:solidFill>
                <a:latin typeface="Calibri"/>
              </a:rPr>
              <a:t>  • SensorGauges.jsx — радиални циферблати</a:t>
            </a:r>
          </a:p>
          <a:p>
            <a:pPr algn="l"/>
            <a:r>
              <a:rPr sz="1300">
                <a:solidFill>
                  <a:srgbClr val="202020"/>
                </a:solidFill>
                <a:latin typeface="Calibri"/>
              </a:rPr>
              <a:t>  • FanControl.jsx — 4 бутона (OFF/LOW/MED/HIGH)</a:t>
            </a:r>
          </a:p>
          <a:p>
            <a:pPr algn="l"/>
            <a:r>
              <a:rPr sz="1300">
                <a:solidFill>
                  <a:srgbClr val="202020"/>
                </a:solidFill>
                <a:latin typeface="Calibri"/>
              </a:rPr>
              <a:t>  • ValveControl.jsx — 2 toggle превключвателя</a:t>
            </a:r>
          </a:p>
          <a:p>
            <a:pPr algn="l"/>
            <a:r>
              <a:rPr sz="1300">
                <a:solidFill>
                  <a:srgbClr val="202020"/>
                </a:solidFill>
                <a:latin typeface="Calibri"/>
              </a:rPr>
              <a:t>  • AirflowStatus.jsx — DI индикатори</a:t>
            </a:r>
          </a:p>
          <a:p>
            <a:pPr algn="l"/>
            <a:r>
              <a:rPr sz="1300">
                <a:solidFill>
                  <a:srgbClr val="202020"/>
                </a:solidFill>
                <a:latin typeface="Calibri"/>
              </a:rPr>
              <a:t>  • ModeToggle.jsx — АВТО/РЪЧЕН</a:t>
            </a:r>
          </a:p>
          <a:p>
            <a:pPr algn="l"/>
            <a:r>
              <a:rPr sz="1300">
                <a:solidFill>
                  <a:srgbClr val="202020"/>
                </a:solidFill>
                <a:latin typeface="Calibri"/>
              </a:rPr>
              <a:t>  • AlertsPanel.jsx — цветни известия</a:t>
            </a:r>
          </a:p>
          <a:p>
            <a:pPr algn="l"/>
            <a:r>
              <a:rPr sz="1300">
                <a:solidFill>
                  <a:srgbClr val="202020"/>
                </a:solidFill>
                <a:latin typeface="Calibri"/>
              </a:rPr>
              <a:t>  • HistoricalChart.jsx — Recharts линейна графика</a:t>
            </a:r>
          </a:p>
          <a:p>
            <a:pPr algn="l"/>
            <a:r>
              <a:rPr sz="1300">
                <a:solidFill>
                  <a:srgbClr val="202020"/>
                </a:solidFill>
                <a:latin typeface="Calibri"/>
              </a:rPr>
              <a:t>  • SimulationPanel.jsx — слайдери + сценарии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  <a:latin typeface="Calibri"/>
              </a:rPr>
              <a:t>Разпределени Вградени Системи  |  Курсов проект  |  2025/2026  |  10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Уеб интерфейс — React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964"/>
                </a:solidFill>
                <a:latin typeface="Calibri"/>
              </a:rPr>
              <a:t>Достъп:  http://&lt;RPi-IP&gt;:8000   |   API документация:  /docs   |   WebSocket:  ws://&lt;IP&gt;:8000/ws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964"/>
                </a:solidFill>
                <a:latin typeface="Calibri"/>
              </a:rPr>
              <a:t>Функционалности: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02020"/>
                </a:solidFill>
                <a:latin typeface="Calibri"/>
              </a:rPr>
              <a:t>  • Радиални циферблати за температура (°C) и влажност (%) с цветово кодиране</a:t>
            </a:r>
          </a:p>
          <a:p>
            <a:pPr algn="l"/>
            <a:r>
              <a:rPr sz="1500">
                <a:solidFill>
                  <a:srgbClr val="202020"/>
                </a:solidFill>
                <a:latin typeface="Calibri"/>
              </a:rPr>
              <a:t>  • Панел АВТО/РЪЧЕН режим — превключване с един клик</a:t>
            </a:r>
          </a:p>
          <a:p>
            <a:pPr algn="l"/>
            <a:r>
              <a:rPr sz="1500">
                <a:solidFill>
                  <a:srgbClr val="202020"/>
                </a:solidFill>
                <a:latin typeface="Calibri"/>
              </a:rPr>
              <a:t>  • Управление на вентилатора — 4 бутона (OFF / НИСКА / СРЕДНА / ВИСОКА)</a:t>
            </a:r>
          </a:p>
          <a:p>
            <a:pPr algn="l"/>
            <a:r>
              <a:rPr sz="1500">
                <a:solidFill>
                  <a:srgbClr val="202020"/>
                </a:solidFill>
                <a:latin typeface="Calibri"/>
              </a:rPr>
              <a:t>  • Управление на клапите — toggle превключватели (само в РЪЧЕН режим)</a:t>
            </a:r>
          </a:p>
          <a:p>
            <a:pPr algn="l"/>
            <a:r>
              <a:rPr sz="1500">
                <a:solidFill>
                  <a:srgbClr val="202020"/>
                </a:solidFill>
                <a:latin typeface="Calibri"/>
              </a:rPr>
              <a:t>  • Датчици за въздушен поток — визуален статус на DI-0 и DI-1</a:t>
            </a:r>
          </a:p>
          <a:p>
            <a:pPr algn="l"/>
            <a:r>
              <a:rPr sz="1500">
                <a:solidFill>
                  <a:srgbClr val="202020"/>
                </a:solidFill>
                <a:latin typeface="Calibri"/>
              </a:rPr>
              <a:t>  • GPIO обратна връзка — RPM на вентилатора, позиция на клапите</a:t>
            </a:r>
          </a:p>
          <a:p>
            <a:pPr algn="l"/>
            <a:r>
              <a:rPr sz="1500">
                <a:solidFill>
                  <a:srgbClr val="202020"/>
                </a:solidFill>
                <a:latin typeface="Calibri"/>
              </a:rPr>
              <a:t>  • Известия — цветово кодирани (зелен/жълт/червен)</a:t>
            </a:r>
          </a:p>
          <a:p>
            <a:pPr algn="l"/>
            <a:r>
              <a:rPr sz="1500">
                <a:solidFill>
                  <a:srgbClr val="202020"/>
                </a:solidFill>
                <a:latin typeface="Calibri"/>
              </a:rPr>
              <a:t>  • Историческа графика — линейна Recharts за последните 1/6/12/24 часа</a:t>
            </a:r>
          </a:p>
          <a:p>
            <a:pPr algn="l"/>
            <a:r>
              <a:rPr sz="1500">
                <a:solidFill>
                  <a:srgbClr val="202020"/>
                </a:solidFill>
                <a:latin typeface="Calibri"/>
              </a:rPr>
              <a:t>  • Статус на MQTT — ✓ свързан / SNMP↩ fallback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600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964"/>
                </a:solidFill>
                <a:latin typeface="Calibri"/>
              </a:rPr>
              <a:t>REST API: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96596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02020"/>
                </a:solidFill>
                <a:latin typeface="Calibri"/>
              </a:rPr>
              <a:t>  • GET   /api/status</a:t>
            </a:r>
          </a:p>
          <a:p>
            <a:pPr algn="l"/>
            <a:r>
              <a:rPr sz="1300">
                <a:solidFill>
                  <a:srgbClr val="202020"/>
                </a:solidFill>
                <a:latin typeface="Calibri"/>
              </a:rPr>
              <a:t>  • POST  /api/fan</a:t>
            </a:r>
          </a:p>
          <a:p>
            <a:pPr algn="l"/>
            <a:r>
              <a:rPr sz="1300">
                <a:solidFill>
                  <a:srgbClr val="202020"/>
                </a:solidFill>
                <a:latin typeface="Calibri"/>
              </a:rPr>
              <a:t>  • POST  /api/valve</a:t>
            </a:r>
          </a:p>
          <a:p>
            <a:pPr algn="l"/>
            <a:r>
              <a:rPr sz="1300">
                <a:solidFill>
                  <a:srgbClr val="202020"/>
                </a:solidFill>
                <a:latin typeface="Calibri"/>
              </a:rPr>
              <a:t>  • POST  /api/mode</a:t>
            </a:r>
          </a:p>
          <a:p>
            <a:pPr algn="l"/>
            <a:r>
              <a:rPr sz="1300">
                <a:solidFill>
                  <a:srgbClr val="202020"/>
                </a:solidFill>
                <a:latin typeface="Calibri"/>
              </a:rPr>
              <a:t>  • POST  /api/thresholds</a:t>
            </a:r>
          </a:p>
          <a:p>
            <a:pPr algn="l"/>
            <a:r>
              <a:rPr sz="1300">
                <a:solidFill>
                  <a:srgbClr val="202020"/>
                </a:solidFill>
                <a:latin typeface="Calibri"/>
              </a:rPr>
              <a:t>  • GET   /api/history</a:t>
            </a:r>
          </a:p>
          <a:p>
            <a:pPr algn="l"/>
            <a:r>
              <a:rPr sz="1300">
                <a:solidFill>
                  <a:srgbClr val="202020"/>
                </a:solidFill>
                <a:latin typeface="Calibri"/>
              </a:rPr>
              <a:t>  • GET   /api/statistics</a:t>
            </a:r>
          </a:p>
          <a:p>
            <a:pPr algn="l"/>
            <a:r>
              <a:rPr sz="1300">
                <a:solidFill>
                  <a:srgbClr val="202020"/>
                </a:solidFill>
                <a:latin typeface="Calibri"/>
              </a:rPr>
              <a:t>  • GET   /api/mqtt</a:t>
            </a:r>
          </a:p>
          <a:p>
            <a:pPr algn="l"/>
            <a:r>
              <a:rPr sz="1300">
                <a:solidFill>
                  <a:srgbClr val="202020"/>
                </a:solidFill>
                <a:latin typeface="Calibri"/>
              </a:rPr>
              <a:t>  • GET   /api/gpio</a:t>
            </a:r>
          </a:p>
          <a:p>
            <a:pPr algn="l"/>
            <a:r>
              <a:rPr sz="1300">
                <a:solidFill>
                  <a:srgbClr val="202020"/>
                </a:solidFill>
                <a:latin typeface="Calibri"/>
              </a:rPr>
              <a:t>  • GET/POST /api/simulation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  <a:latin typeface="Calibri"/>
              </a:rPr>
              <a:t>Разпределени Вградени Системи  |  Курсов проект  |  2025/2026  |  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Симулационен режим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964"/>
                </a:solidFill>
                <a:latin typeface="Calibri"/>
              </a:rPr>
              <a:t>Предназначение: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02020"/>
                </a:solidFill>
                <a:latin typeface="Calibri"/>
              </a:rPr>
              <a:t>  • Системата може да работи напълно без физически хардуер (сензори / Modbus)</a:t>
            </a:r>
          </a:p>
          <a:p>
            <a:pPr algn="l"/>
            <a:r>
              <a:rPr sz="1500">
                <a:solidFill>
                  <a:srgbClr val="202020"/>
                </a:solidFill>
                <a:latin typeface="Calibri"/>
              </a:rPr>
              <a:t>  • Два нива на симулация — автоматична (няма хардуер) и ръчна (API override)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964"/>
                </a:solidFill>
                <a:latin typeface="Calibri"/>
              </a:rPr>
              <a:t>Ниво 1 — Автоматична симулация (hardware fallback):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02020"/>
                </a:solidFill>
                <a:latin typeface="Calibri"/>
              </a:rPr>
              <a:t>  • При липса на BME280/DHT22 — sensor_reader.py генерира реалистични стойности (синусоидален drift)</a:t>
            </a:r>
          </a:p>
          <a:p>
            <a:pPr algn="l"/>
            <a:r>
              <a:rPr sz="1500">
                <a:solidFill>
                  <a:srgbClr val="202020"/>
                </a:solidFill>
                <a:latin typeface="Calibri"/>
              </a:rPr>
              <a:t>  • При липса на Modbus адаптер — IOControl симулира relay/DI операции с лог съобщения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964"/>
                </a:solidFill>
                <a:latin typeface="Calibri"/>
              </a:rPr>
              <a:t>Ниво 2 — Ръчен override (SimulationPanel в UI):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033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202020"/>
                </a:solidFill>
                <a:latin typeface="Calibri"/>
              </a:rPr>
              <a:t>  • Слайдер за температура (10–45 °C) и влажност (10–95 %) в реално време</a:t>
            </a:r>
          </a:p>
          <a:p>
            <a:pPr algn="l"/>
            <a:r>
              <a:rPr sz="1500">
                <a:solidFill>
                  <a:srgbClr val="202020"/>
                </a:solidFill>
                <a:latin typeface="Calibri"/>
              </a:rPr>
              <a:t>  • Предварителен преглед на очакваното поведение (вентилатор + клапи) преди прилагане</a:t>
            </a:r>
          </a:p>
          <a:p>
            <a:pPr algn="l"/>
            <a:r>
              <a:rPr sz="1500">
                <a:solidFill>
                  <a:srgbClr val="202020"/>
                </a:solidFill>
                <a:latin typeface="Calibri"/>
              </a:rPr>
              <a:t>  • Бързи сценарии: 🌿 Нормална / ☀ Топло / 🌡 Горещо / 🔥 Критично / 💧 Вис. влажност</a:t>
            </a:r>
          </a:p>
          <a:p>
            <a:pPr algn="l"/>
            <a:r>
              <a:rPr sz="1500">
                <a:solidFill>
                  <a:srgbClr val="202020"/>
                </a:solidFill>
                <a:latin typeface="Calibri"/>
              </a:rPr>
              <a:t>  • API: POST /api/simulation  {"enabled": true, "temperature": 31, "humidity": 68}</a:t>
            </a:r>
          </a:p>
          <a:p>
            <a:pPr algn="l"/>
            <a:r>
              <a:rPr sz="1500">
                <a:solidFill>
                  <a:srgbClr val="202020"/>
                </a:solidFill>
                <a:latin typeface="Calibri"/>
              </a:rPr>
              <a:t>  • Индикатор ⚗ СИМУЛАЦИЯ се показва в заглавието на сензорния панел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15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06060"/>
                </a:solidFill>
                <a:latin typeface="Calibri"/>
              </a:rPr>
              <a:t>Полезно за:  демонстрация без хардуер  |  тестване на UI/UX  |  верификация на логиката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  <a:latin typeface="Calibri"/>
              </a:rPr>
              <a:t>Разпределени Вградени Системи  |  Курсов проект  |  2025/2026  |  12 / 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70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Заключение и резултати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964"/>
                </a:solidFill>
                <a:latin typeface="Calibri"/>
              </a:rPr>
              <a:t>Реализирани функционалности: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50876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Функционалност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Статус</a:t>
                      </a:r>
                    </a:p>
                  </a:txBody>
                  <a:tcPr>
                    <a:solidFill>
                      <a:srgbClr val="1F39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Четене на температура/влажност (BME280 / DHT22)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✅  Реализирано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Modbus RTU управление — вентилатор 3 степени + 2 клапи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✅  Реализирано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GPIO — LED индикатори, бутон, тахометър, valve feedback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✅  Реализирано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SNMP v2c докладване + автоматични трапове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✅  Реализирано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MQTT брокер (Mosquitto) + multi-node поддръжка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✅  Реализирано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Автоматичен fallback MQTT → SNMP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✅  Реализирано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SQLite база данни с история и статистика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✅  Реализирано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React уеб интерфейс с WebSocket в реално време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✅  Реализирано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Симулационен режим (без хардуер)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alibri"/>
                        </a:rPr>
                        <a:t>✅  Реализирано</a:t>
                      </a:r>
                    </a:p>
                  </a:txBody>
                  <a:tcPr>
                    <a:solidFill>
                      <a:srgbClr val="E7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3964"/>
                </a:solidFill>
                <a:latin typeface="Calibri"/>
              </a:rPr>
              <a:t>Благодарим за вниманието!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  <a:latin typeface="Calibri"/>
              </a:rPr>
              <a:t>Разпределени Вградени Системи  |  Курсов проект  |  2025/2026  |  13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2041</Words>
  <Application>Microsoft Office PowerPoint</Application>
  <PresentationFormat>Custom</PresentationFormat>
  <Paragraphs>315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Danail Atanasov</cp:lastModifiedBy>
  <cp:revision>2</cp:revision>
  <dcterms:created xsi:type="dcterms:W3CDTF">2013-01-27T09:14:16Z</dcterms:created>
  <dcterms:modified xsi:type="dcterms:W3CDTF">2026-03-20T09:18:02Z</dcterms:modified>
  <cp:category/>
</cp:coreProperties>
</file>